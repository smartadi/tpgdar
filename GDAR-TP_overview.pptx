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45720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841247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1225295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0" y="1609344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0" y="1993391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0" y="237744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93808" y="45720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893808" y="841247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93808" y="1225295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93808" y="1609344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93808" y="1993391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93808" y="237744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277856" y="45720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77856" y="841247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77856" y="1225295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77856" y="1609344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277856" y="1993391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77856" y="237744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661904" y="45720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661904" y="841247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661904" y="1225295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661904" y="1609344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61904" y="1993391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661904" y="237744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045952" y="45720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045952" y="841247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45952" y="1225295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45952" y="1609344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045952" y="1993391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045952" y="237744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430000" y="45720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430000" y="841247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30000" y="1225295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430000" y="1609344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430000" y="1993391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430000" y="2377440"/>
            <a:ext cx="91440" cy="91440"/>
          </a:xfrm>
          <a:prstGeom prst="ellipse">
            <a:avLst/>
          </a:prstGeom>
          <a:solidFill>
            <a:srgbClr val="3A47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9FB2E8"/>
                </a:solidFill>
                <a:latin typeface="Calibri"/>
              </a:rPr>
              <a:t>GDAR-TP  ·  PRELIMINARY RESULTS  ·  SIMULATED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2331720"/>
            <a:ext cx="107899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100" b="1" i="0">
                <a:solidFill>
                  <a:srgbClr val="FFFFFF"/>
                </a:solidFill>
                <a:latin typeface="Cambria"/>
              </a:rPr>
              <a:t>Modeling — and steering —</a:t>
            </a:r>
          </a:p>
          <a:p>
            <a:pPr algn="l">
              <a:lnSpc>
                <a:spcPct val="102000"/>
              </a:lnSpc>
            </a:pPr>
            <a:r>
              <a:rPr sz="4100" b="1" i="0">
                <a:solidFill>
                  <a:srgbClr val="FFFFFF"/>
                </a:solidFill>
                <a:latin typeface="Cambria"/>
              </a:rPr>
              <a:t>how brain areas talk to each other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43400"/>
            <a:ext cx="97840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CADCFC"/>
                </a:solidFill>
                <a:latin typeface="Calibri"/>
              </a:rPr>
              <a:t>A network model whose wiring changes with brain state, compressed to a few simple pieces — plus a stimulation controller that is guaranteed steady across every state.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623560"/>
            <a:ext cx="2194560" cy="41148"/>
          </a:xfrm>
          <a:prstGeom prst="rect">
            <a:avLst/>
          </a:prstGeom>
          <a:solidFill>
            <a:srgbClr val="B24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806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9FB2E8"/>
                </a:solidFill>
                <a:latin typeface="Calibri"/>
              </a:rPr>
              <a:t>Graph Diffusion AutoRegression  ·  Tensor-Product decomposition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B24C2E"/>
                </a:solidFill>
                <a:latin typeface="Calibri"/>
              </a:rPr>
              <a:t>THE IDEA IN ONE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Brain areas sit on a fixed map — and nudge their neighbours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7" y="1691639"/>
            <a:ext cx="5760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340"/>
                </a:solidFill>
                <a:latin typeface="Calibri"/>
              </a:rPr>
              <a:t>We record activity from a grid of sensors on the brain — one number per channel, many times a second.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7" y="2926079"/>
            <a:ext cx="5760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340"/>
                </a:solidFill>
                <a:latin typeface="Calibri"/>
              </a:rPr>
              <a:t>Each channel is pushed around mostly by its close neighbours on the grid, not by everything at once.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B24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4160520"/>
            <a:ext cx="5760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0" i="0">
                <a:solidFill>
                  <a:srgbClr val="1B2340"/>
                </a:solidFill>
                <a:latin typeface="Calibri"/>
              </a:rPr>
              <a:t>One slow “state knob” — arousal, or how hard we stimulate — changes how strongly neighbours push each other.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9601200" y="2862072"/>
            <a:ext cx="0" cy="658368"/>
          </a:xfrm>
          <a:prstGeom prst="line">
            <a:avLst/>
          </a:prstGeom>
          <a:ln w="31750">
            <a:solidFill>
              <a:srgbClr val="B24C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601200" y="3520440"/>
            <a:ext cx="0" cy="658368"/>
          </a:xfrm>
          <a:prstGeom prst="line">
            <a:avLst/>
          </a:prstGeom>
          <a:ln w="31750">
            <a:solidFill>
              <a:srgbClr val="B24C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942832" y="3520440"/>
            <a:ext cx="658368" cy="0"/>
          </a:xfrm>
          <a:prstGeom prst="line">
            <a:avLst/>
          </a:prstGeom>
          <a:ln w="31750">
            <a:solidFill>
              <a:srgbClr val="B24C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601200" y="3520440"/>
            <a:ext cx="658368" cy="0"/>
          </a:xfrm>
          <a:prstGeom prst="line">
            <a:avLst/>
          </a:prstGeom>
          <a:ln w="31750">
            <a:solidFill>
              <a:srgbClr val="B24C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138160" y="2057400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138160" y="2715768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60" y="3374136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138160" y="4032504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0" y="4690872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796528" y="2057400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796528" y="2715768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96528" y="3374136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96528" y="4032504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96528" y="4690872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54896" y="2057400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54896" y="2715768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54896" y="3374136"/>
            <a:ext cx="292608" cy="292608"/>
          </a:xfrm>
          <a:prstGeom prst="ellipse">
            <a:avLst/>
          </a:prstGeom>
          <a:solidFill>
            <a:srgbClr val="B24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54896" y="4032504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454896" y="4690872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13264" y="2057400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113264" y="2715768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113264" y="3374136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113264" y="4032504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113264" y="4690872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71632" y="2057400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771632" y="2715768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771632" y="3374136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771632" y="4032504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71632" y="4690872"/>
            <a:ext cx="292608" cy="29260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0" y="52578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5A647E"/>
                </a:solidFill>
                <a:latin typeface="Calibri"/>
              </a:rPr>
              <a:t>A channel and its neighbours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B24C2E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Predict each channel from its recent past, its neighbours, and the stimulation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645920"/>
            <a:ext cx="9235440" cy="16002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029968"/>
            <a:ext cx="7498079" cy="12618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703320"/>
            <a:ext cx="5180076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822191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1">
                <a:solidFill>
                  <a:srgbClr val="B24C2E"/>
                </a:solidFill>
                <a:latin typeface="Cambria"/>
              </a:rPr>
              <a:t>x(t+1)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270248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2340"/>
                </a:solidFill>
                <a:latin typeface="Calibri"/>
              </a:rPr>
              <a:t>next activity at every channel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8796" y="3703320"/>
            <a:ext cx="5180076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97396" y="3822191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1">
                <a:solidFill>
                  <a:srgbClr val="B24C2E"/>
                </a:solidFill>
                <a:latin typeface="Cambria"/>
              </a:rPr>
              <a:t>Aₖ x(t−k)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97396" y="4270248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2340"/>
                </a:solidFill>
                <a:latin typeface="Calibri"/>
              </a:rPr>
              <a:t>how strongly channels pushed each other, k steps ago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5180076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56632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1">
                <a:solidFill>
                  <a:srgbClr val="B24C2E"/>
                </a:solidFill>
                <a:latin typeface="Cambria"/>
              </a:rPr>
              <a:t>B u(t)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504688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2340"/>
                </a:solidFill>
                <a:latin typeface="Calibri"/>
              </a:rPr>
              <a:t>the effect of the stimulation we apply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8796" y="4937760"/>
            <a:ext cx="5180076" cy="10515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3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7396" y="5056632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1">
                <a:solidFill>
                  <a:srgbClr val="B24C2E"/>
                </a:solidFill>
                <a:latin typeface="Cambria"/>
              </a:rPr>
              <a:t>e(t)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7396" y="5504688"/>
            <a:ext cx="47228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B2340"/>
                </a:solidFill>
                <a:latin typeface="Calibri"/>
              </a:rPr>
              <a:t>everything left over —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1C7293"/>
                </a:solidFill>
                <a:latin typeface="Calibri"/>
              </a:rPr>
              <a:t>CONSTRAINT 1 — KEEP IT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Only neighbours are allowed a direct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We forbid direct arrows between far-apart channels. </a:t>
            </a:r>
            <a:r>
              <a:rPr sz="1600" b="0" i="0">
                <a:solidFill>
                  <a:srgbClr val="1B2340"/>
                </a:solidFill>
                <a:latin typeface="Calibri"/>
              </a:rPr>
              <a:t>Each channel is only nudged by the average of its neighbours — written with the grid’s </a:t>
            </a:r>
            <a:r>
              <a:rPr sz="1600" b="1" i="0">
                <a:solidFill>
                  <a:srgbClr val="B24C2E"/>
                </a:solidFill>
                <a:latin typeface="Calibri"/>
              </a:rPr>
              <a:t>Laplacian L</a:t>
            </a:r>
            <a:r>
              <a:rPr sz="1600" b="0" i="0">
                <a:solidFill>
                  <a:srgbClr val="1B2340"/>
                </a:solidFill>
                <a:latin typeface="Calibri"/>
              </a:rPr>
              <a:t>. Two numbers per time-lag do the whole grid.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10881360" cy="96012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3035808"/>
            <a:ext cx="868680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A647E"/>
                </a:solidFill>
                <a:latin typeface="Calibri"/>
              </a:rPr>
              <a:t>“keep only neighbour + self links”          “a little of itself, minus a diffusion across the grid”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26280"/>
            <a:ext cx="329184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1295C"/>
                </a:solidFill>
                <a:latin typeface="Cambria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3095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numbers describe the whole grid’s coupling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526280"/>
            <a:ext cx="329184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5A647E"/>
                </a:solidFill>
                <a:latin typeface="Cambria"/>
              </a:rPr>
              <a:t>2,592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533095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numbers a free model would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4526280"/>
            <a:ext cx="329184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B24C2E"/>
                </a:solidFill>
                <a:latin typeface="Cambria"/>
              </a:rPr>
              <a:t>same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33095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far fewer knobs, no accuracy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1C7293"/>
                </a:solidFill>
                <a:latin typeface="Calibri"/>
              </a:rPr>
              <a:t>CONSTRAINT 2 — ONE KNOB, FEW PIECES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Blend a handful of fixed “corner”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1B2340"/>
                </a:solidFill>
                <a:latin typeface="Calibri"/>
              </a:rPr>
              <a:t>Instead of a different model at every knob setting, we keep a few fixed corner models and </a:t>
            </a:r>
            <a:r>
              <a:rPr sz="1600" b="1" i="0">
                <a:solidFill>
                  <a:srgbClr val="B24C2E"/>
                </a:solidFill>
                <a:latin typeface="Calibri"/>
              </a:rPr>
              <a:t>blend them with weights that add up to 1</a:t>
            </a:r>
            <a:r>
              <a:rPr sz="1600" b="0" i="0">
                <a:solidFill>
                  <a:srgbClr val="1B2340"/>
                </a:solidFill>
                <a:latin typeface="Calibri"/>
              </a:rPr>
              <a:t>. The knob just slides the blend; a standard decomposition (HOSVD) tells us how many corners are really needed.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697480"/>
            <a:ext cx="9601200" cy="137160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p_pa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2926080"/>
            <a:ext cx="8229600" cy="9966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80160" y="395020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47E"/>
                </a:solidFill>
                <a:latin typeface="Calibri"/>
              </a:rPr>
              <a:t>the model at knob value p   =   a weighted blend of fixed corner models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4709160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681728"/>
            <a:ext cx="282854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mbria"/>
              </a:rPr>
              <a:t>Interpretable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3331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340"/>
                </a:solidFill>
                <a:latin typeface="Calibri"/>
              </a:rPr>
              <a:t>each corner is one clean spatial pattern of communication</a:t>
            </a:r>
          </a:p>
        </p:txBody>
      </p:sp>
      <p:sp>
        <p:nvSpPr>
          <p:cNvPr id="13" name="Oval 12"/>
          <p:cNvSpPr/>
          <p:nvPr/>
        </p:nvSpPr>
        <p:spPr>
          <a:xfrm>
            <a:off x="4428744" y="4709160"/>
            <a:ext cx="384048" cy="384048"/>
          </a:xfrm>
          <a:prstGeom prst="ellipse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28744" y="4709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1663" y="4681728"/>
            <a:ext cx="282854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mbria"/>
              </a:rPr>
              <a:t>Compact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8744" y="5212080"/>
            <a:ext cx="3331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340"/>
                </a:solidFill>
                <a:latin typeface="Calibri"/>
              </a:rPr>
              <a:t>the whole knob-sweep is a few pieces plus a blend curve</a:t>
            </a:r>
          </a:p>
        </p:txBody>
      </p:sp>
      <p:sp>
        <p:nvSpPr>
          <p:cNvPr id="17" name="Oval 16"/>
          <p:cNvSpPr/>
          <p:nvPr/>
        </p:nvSpPr>
        <p:spPr>
          <a:xfrm>
            <a:off x="8217407" y="4709160"/>
            <a:ext cx="384048" cy="384048"/>
          </a:xfrm>
          <a:prstGeom prst="ellipse">
            <a:avLst/>
          </a:prstGeom>
          <a:solidFill>
            <a:srgbClr val="B24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7407" y="4709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0327" y="4681728"/>
            <a:ext cx="2828543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1295C"/>
                </a:solidFill>
                <a:latin typeface="Cambria"/>
              </a:rPr>
              <a:t>Controllable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7407" y="5212080"/>
            <a:ext cx="3331464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B2340"/>
                </a:solidFill>
                <a:latin typeface="Calibri"/>
              </a:rPr>
              <a:t>a controller only has to handle the corners, not every setting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B24C2E"/>
                </a:solidFill>
                <a:latin typeface="Calibri"/>
              </a:rPr>
              <a:t>RESULT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It recovers the true wiring — a plain model does not</a:t>
            </a:r>
          </a:p>
        </p:txBody>
      </p:sp>
      <p:pic>
        <p:nvPicPr>
          <p:cNvPr id="5" name="Picture 4" descr="01_coupling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463040"/>
            <a:ext cx="10058400" cy="30952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" y="4572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150" b="0" i="1">
                <a:solidFill>
                  <a:srgbClr val="5A647E"/>
                </a:solidFill>
                <a:latin typeface="Calibri"/>
              </a:rPr>
              <a:t>True channel-to-channel coupling (left) vs. our graph model (middle) vs. an unconstrained model (right).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329184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B24C2E"/>
                </a:solidFill>
                <a:latin typeface="Cambria"/>
              </a:rPr>
              <a:t>0.99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338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our model’s match to the true wiring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5029200"/>
            <a:ext cx="329184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5A647E"/>
                </a:solidFill>
                <a:latin typeface="Cambria"/>
              </a:rPr>
              <a:t>0.90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58338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the free model’s match — noisier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5029200"/>
            <a:ext cx="329184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1295C"/>
                </a:solidFill>
                <a:latin typeface="Cambria"/>
              </a:rPr>
              <a:t>4 vs 2,592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5833872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knobs used to get there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B24C2E"/>
                </a:solidFill>
                <a:latin typeface="Calibri"/>
              </a:rPr>
              <a:t>RESULT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The knob’s whole effect collapses to just two corners</a:t>
            </a:r>
          </a:p>
        </p:txBody>
      </p:sp>
      <p:pic>
        <p:nvPicPr>
          <p:cNvPr id="5" name="Picture 4" descr="02_tp_spectrum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508760"/>
            <a:ext cx="9144000" cy="33247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17904" y="484632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150" b="0" i="1">
                <a:solidFill>
                  <a:srgbClr val="5A647E"/>
                </a:solidFill>
                <a:latin typeface="Calibri"/>
              </a:rPr>
              <a:t>Left: importance of each corner drops off a cliff after two. Right: the two blend weights slide smoothly as the knob turns.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94960"/>
            <a:ext cx="356616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B24C2E"/>
                </a:solidFill>
                <a:latin typeface="Cambria"/>
              </a:rPr>
              <a:t>7×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9963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error drop going from one corner to two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5394960"/>
            <a:ext cx="356616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1295C"/>
                </a:solidFill>
                <a:latin typeface="Cambria"/>
              </a:rPr>
              <a:t>then flat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6199632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a third corner adds essentially nothing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394960"/>
            <a:ext cx="310896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C7293"/>
                </a:solidFill>
                <a:latin typeface="Cambria"/>
              </a:rPr>
              <a:t>held-out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6199632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predicts unseen knob settings as well as a custom 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B24C2E"/>
                </a:solidFill>
                <a:latin typeface="Calibri"/>
              </a:rPr>
              <a:t>RESULT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The corners are readable, and the blend tracks the state</a:t>
            </a:r>
          </a:p>
        </p:txBody>
      </p:sp>
      <p:pic>
        <p:nvPicPr>
          <p:cNvPr id="5" name="Picture 4" descr="04_interpret_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508760"/>
            <a:ext cx="1005840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" y="45720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150" b="0" i="1">
                <a:solidFill>
                  <a:srgbClr val="5A647E"/>
                </a:solidFill>
                <a:latin typeface="Calibri"/>
              </a:rPr>
              <a:t>Two corner models as spatial coupling maps (left, middle); the recovered blend weight follows the true state schedule over time (right).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5074920"/>
            <a:ext cx="38404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B24C2E"/>
                </a:solidFill>
                <a:latin typeface="Cambria"/>
              </a:rPr>
              <a:t>0.997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587959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match between the recovered blend and the real state schedule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074920"/>
            <a:ext cx="384048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1295C"/>
                </a:solidFill>
                <a:latin typeface="Cambria"/>
              </a:rPr>
              <a:t>two maps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879592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each corner is one distinct, interpretable communication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B24C2E"/>
                </a:solidFill>
                <a:latin typeface="Calibri"/>
              </a:rPr>
              <a:t>RESULT 4 — CLOSING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1295C"/>
                </a:solidFill>
                <a:latin typeface="Cambria"/>
              </a:rPr>
              <a:t>One controller, provably steady across every state</a:t>
            </a:r>
          </a:p>
        </p:txBody>
      </p:sp>
      <p:pic>
        <p:nvPicPr>
          <p:cNvPr id="5" name="Picture 4" descr="05_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1417320"/>
            <a:ext cx="10058400" cy="3353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9848" y="48006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150" b="0" i="1">
                <a:solidFill>
                  <a:srgbClr val="5A647E"/>
                </a:solidFill>
                <a:latin typeface="Calibri"/>
              </a:rPr>
              <a:t>Run on the true nonlinear network with sensor noise, loop delay and a cap on stimulation. Left: closed loop (orange) vs. no control. Right: benefit fades gracefully as delay grows.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486400"/>
            <a:ext cx="5486400" cy="868680"/>
          </a:xfrm>
          <a:prstGeom prst="roundRect">
            <a:avLst>
              <a:gd name="adj" fmla="val 9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m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779008"/>
            <a:ext cx="5029200" cy="320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10819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5A647E"/>
                </a:solidFill>
                <a:latin typeface="Calibri"/>
              </a:rPr>
              <a:t>one gain, guaranteed stable for every blend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5440680"/>
            <a:ext cx="265176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B24C2E"/>
                </a:solidFill>
                <a:latin typeface="Cambria"/>
              </a:rPr>
              <a:t>~23%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624535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less unwanted fluctuation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440680"/>
            <a:ext cx="2651760" cy="77724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1295C"/>
                </a:solidFill>
                <a:latin typeface="Cambria"/>
              </a:rPr>
              <a:t>graceful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6245352"/>
            <a:ext cx="2651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3000"/>
              </a:lnSpc>
            </a:pPr>
            <a:r>
              <a:rPr sz="1250" b="0" i="0">
                <a:solidFill>
                  <a:srgbClr val="1B2340"/>
                </a:solidFill>
                <a:latin typeface="Calibri"/>
              </a:rPr>
              <a:t>degrades slowly with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40080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A647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Where this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The full pipeline — model → compress → interpret → control — works end to end on a simulated brain network, with 27 automated tests. Real recordings are the next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180076" cy="896112"/>
          </a:xfrm>
          <a:prstGeom prst="roundRect">
            <a:avLst>
              <a:gd name="adj" fmla="val 9000"/>
            </a:avLst>
          </a:prstGeom>
          <a:solidFill>
            <a:srgbClr val="2E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04872"/>
            <a:ext cx="46314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C9A8"/>
                </a:solidFill>
                <a:latin typeface="Cambria"/>
              </a:rPr>
              <a:t>Recovers wiring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61488"/>
            <a:ext cx="46314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CFA"/>
                </a:solidFill>
                <a:latin typeface="Calibri"/>
              </a:rPr>
              <a:t>graph model beats a free model with a tiny fraction of the knobs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68796" y="2286000"/>
            <a:ext cx="5180076" cy="896112"/>
          </a:xfrm>
          <a:prstGeom prst="roundRect">
            <a:avLst>
              <a:gd name="adj" fmla="val 9000"/>
            </a:avLst>
          </a:prstGeom>
          <a:solidFill>
            <a:srgbClr val="2E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3116" y="2404872"/>
            <a:ext cx="46314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C9A8"/>
                </a:solidFill>
                <a:latin typeface="Cambria"/>
              </a:rPr>
              <a:t>Compresses cleanly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3116" y="2761488"/>
            <a:ext cx="46314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CFA"/>
                </a:solidFill>
                <a:latin typeface="Calibri"/>
              </a:rPr>
              <a:t>the state-dependence needs only two corner 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310128"/>
            <a:ext cx="5180076" cy="896112"/>
          </a:xfrm>
          <a:prstGeom prst="roundRect">
            <a:avLst>
              <a:gd name="adj" fmla="val 9000"/>
            </a:avLst>
          </a:prstGeom>
          <a:solidFill>
            <a:srgbClr val="2E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46314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C9A8"/>
                </a:solidFill>
                <a:latin typeface="Cambria"/>
              </a:rPr>
              <a:t>Stays interpretable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85616"/>
            <a:ext cx="46314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CFA"/>
                </a:solidFill>
                <a:latin typeface="Calibri"/>
              </a:rPr>
              <a:t>corners are spatial maps; the blend tracks the real state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68796" y="3310128"/>
            <a:ext cx="5180076" cy="896112"/>
          </a:xfrm>
          <a:prstGeom prst="roundRect">
            <a:avLst>
              <a:gd name="adj" fmla="val 9000"/>
            </a:avLst>
          </a:prstGeom>
          <a:solidFill>
            <a:srgbClr val="2E3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43116" y="3429000"/>
            <a:ext cx="46314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C9A8"/>
                </a:solidFill>
                <a:latin typeface="Cambria"/>
              </a:rPr>
              <a:t>Controls stably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3116" y="3785616"/>
            <a:ext cx="46314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E6ECFA"/>
                </a:solidFill>
                <a:latin typeface="Calibri"/>
              </a:rPr>
              <a:t>one guaranteed-stable gain cuts fluctuations on the true network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663440"/>
            <a:ext cx="2011680" cy="36576"/>
          </a:xfrm>
          <a:prstGeom prst="rect">
            <a:avLst/>
          </a:prstGeom>
          <a:solidFill>
            <a:srgbClr val="B24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7316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00">
                <a:solidFill>
                  <a:srgbClr val="B24C2E"/>
                </a:solidFill>
                <a:latin typeface="Calibri"/>
              </a:rPr>
              <a:t>NEXT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93792"/>
            <a:ext cx="108813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Wire in real recordings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 (monkey ECoG / Utah array) — this is the concrete home for the grant’s “GDAR model fits” (Aim 3).</a:t>
            </a: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Decide the coefficient form</a:t>
            </a:r>
            <a:r>
              <a:rPr sz="1450" b="0" i="0">
                <a:solidFill>
                  <a:srgbClr val="CADCFC"/>
                </a:solidFill>
                <a:latin typeface="Calibri"/>
              </a:rPr>
              <a:t> (strict diffusion vs. free edge weights) against real-data residuals.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